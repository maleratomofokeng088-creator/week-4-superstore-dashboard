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9144000"/>
  <p:notesSz cx="6858000" cy="9144000"/>
  <p:embeddedFontLst>
    <p:embeddedFont>
      <p:font typeface="Amatic SC"/>
      <p:regular r:id="rId15"/>
      <p:bold r:id="rId16"/>
    </p:embeddedFont>
    <p:embeddedFont>
      <p:font typeface="Source Code Pr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1" roundtripDataSignature="AMtx7mj8hjmest5jejhEXTH1zgSugn/8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SourceCodePr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AmaticSC-regular.fntdata"/><Relationship Id="rId14" Type="http://schemas.openxmlformats.org/officeDocument/2006/relationships/slide" Target="slides/slide9.xml"/><Relationship Id="rId17" Type="http://schemas.openxmlformats.org/officeDocument/2006/relationships/font" Target="fonts/SourceCodePro-regular.fntdata"/><Relationship Id="rId16" Type="http://schemas.openxmlformats.org/officeDocument/2006/relationships/font" Target="fonts/AmaticSC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SourceCodePro-italic.fntdata"/><Relationship Id="rId6" Type="http://schemas.openxmlformats.org/officeDocument/2006/relationships/slide" Target="slides/slide1.xml"/><Relationship Id="rId18" Type="http://schemas.openxmlformats.org/officeDocument/2006/relationships/font" Target="fonts/SourceCodePr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f5ef9442a3_0_897"/>
          <p:cNvSpPr/>
          <p:nvPr/>
        </p:nvSpPr>
        <p:spPr>
          <a:xfrm>
            <a:off x="0" y="0"/>
            <a:ext cx="9144000" cy="457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g3f5ef9442a3_0_897"/>
          <p:cNvSpPr txBox="1"/>
          <p:nvPr>
            <p:ph type="ctrTitle"/>
          </p:nvPr>
        </p:nvSpPr>
        <p:spPr>
          <a:xfrm>
            <a:off x="311700" y="522867"/>
            <a:ext cx="8520600" cy="358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12" name="Google Shape;12;g3f5ef9442a3_0_897"/>
          <p:cNvSpPr txBox="1"/>
          <p:nvPr>
            <p:ph idx="1" type="subTitle"/>
          </p:nvPr>
        </p:nvSpPr>
        <p:spPr>
          <a:xfrm>
            <a:off x="311700" y="5187200"/>
            <a:ext cx="8520600" cy="94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g3f5ef9442a3_0_89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g3f5ef9442a3_0_902"/>
          <p:cNvSpPr txBox="1"/>
          <p:nvPr>
            <p:ph type="title"/>
          </p:nvPr>
        </p:nvSpPr>
        <p:spPr>
          <a:xfrm>
            <a:off x="2802750" y="1070000"/>
            <a:ext cx="3538500" cy="47181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6" name="Google Shape;16;g3f5ef9442a3_0_90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f5ef9442a3_0_905"/>
          <p:cNvSpPr txBox="1"/>
          <p:nvPr>
            <p:ph type="title"/>
          </p:nvPr>
        </p:nvSpPr>
        <p:spPr>
          <a:xfrm>
            <a:off x="311700" y="390467"/>
            <a:ext cx="8520600" cy="10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g3f5ef9442a3_0_905"/>
          <p:cNvSpPr txBox="1"/>
          <p:nvPr>
            <p:ph idx="1" type="body"/>
          </p:nvPr>
        </p:nvSpPr>
        <p:spPr>
          <a:xfrm>
            <a:off x="311700" y="1638233"/>
            <a:ext cx="8520600" cy="445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g3f5ef9442a3_0_90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3f5ef9442a3_0_909"/>
          <p:cNvSpPr txBox="1"/>
          <p:nvPr>
            <p:ph type="title"/>
          </p:nvPr>
        </p:nvSpPr>
        <p:spPr>
          <a:xfrm>
            <a:off x="311700" y="390467"/>
            <a:ext cx="8520600" cy="10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g3f5ef9442a3_0_909"/>
          <p:cNvSpPr txBox="1"/>
          <p:nvPr>
            <p:ph idx="1" type="body"/>
          </p:nvPr>
        </p:nvSpPr>
        <p:spPr>
          <a:xfrm>
            <a:off x="311700" y="1638233"/>
            <a:ext cx="3999900" cy="445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g3f5ef9442a3_0_909"/>
          <p:cNvSpPr txBox="1"/>
          <p:nvPr>
            <p:ph idx="2" type="body"/>
          </p:nvPr>
        </p:nvSpPr>
        <p:spPr>
          <a:xfrm>
            <a:off x="4832400" y="1638233"/>
            <a:ext cx="3999900" cy="445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g3f5ef9442a3_0_90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3f5ef9442a3_0_914"/>
          <p:cNvSpPr txBox="1"/>
          <p:nvPr>
            <p:ph type="title"/>
          </p:nvPr>
        </p:nvSpPr>
        <p:spPr>
          <a:xfrm>
            <a:off x="304800" y="412467"/>
            <a:ext cx="8537700" cy="9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8" name="Google Shape;28;g3f5ef9442a3_0_91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f5ef9442a3_0_917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31" name="Google Shape;31;g3f5ef9442a3_0_917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g3f5ef9442a3_0_91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3f5ef9442a3_0_921"/>
          <p:cNvSpPr txBox="1"/>
          <p:nvPr>
            <p:ph type="title"/>
          </p:nvPr>
        </p:nvSpPr>
        <p:spPr>
          <a:xfrm>
            <a:off x="490250" y="701800"/>
            <a:ext cx="56187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g3f5ef9442a3_0_92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f5ef9442a3_0_924"/>
          <p:cNvSpPr/>
          <p:nvPr/>
        </p:nvSpPr>
        <p:spPr>
          <a:xfrm>
            <a:off x="4572000" y="-33"/>
            <a:ext cx="457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g3f5ef9442a3_0_924"/>
          <p:cNvCxnSpPr/>
          <p:nvPr/>
        </p:nvCxnSpPr>
        <p:spPr>
          <a:xfrm>
            <a:off x="5029675" y="5994000"/>
            <a:ext cx="4683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g3f5ef9442a3_0_924"/>
          <p:cNvSpPr txBox="1"/>
          <p:nvPr>
            <p:ph type="title"/>
          </p:nvPr>
        </p:nvSpPr>
        <p:spPr>
          <a:xfrm>
            <a:off x="265500" y="1441867"/>
            <a:ext cx="4045200" cy="228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40" name="Google Shape;40;g3f5ef9442a3_0_924"/>
          <p:cNvSpPr txBox="1"/>
          <p:nvPr>
            <p:ph idx="1" type="subTitle"/>
          </p:nvPr>
        </p:nvSpPr>
        <p:spPr>
          <a:xfrm>
            <a:off x="265500" y="3793630"/>
            <a:ext cx="4045200" cy="17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g3f5ef9442a3_0_924"/>
          <p:cNvSpPr txBox="1"/>
          <p:nvPr>
            <p:ph idx="2" type="body"/>
          </p:nvPr>
        </p:nvSpPr>
        <p:spPr>
          <a:xfrm>
            <a:off x="4939500" y="965600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2" name="Google Shape;42;g3f5ef9442a3_0_92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f5ef9442a3_0_931"/>
          <p:cNvSpPr txBox="1"/>
          <p:nvPr>
            <p:ph idx="1" type="body"/>
          </p:nvPr>
        </p:nvSpPr>
        <p:spPr>
          <a:xfrm>
            <a:off x="319500" y="5640767"/>
            <a:ext cx="5998800" cy="79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b="1" sz="24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/>
        </p:txBody>
      </p:sp>
      <p:sp>
        <p:nvSpPr>
          <p:cNvPr id="45" name="Google Shape;45;g3f5ef9442a3_0_93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f5ef9442a3_0_934"/>
          <p:cNvSpPr txBox="1"/>
          <p:nvPr>
            <p:ph hasCustomPrompt="1" type="title"/>
          </p:nvPr>
        </p:nvSpPr>
        <p:spPr>
          <a:xfrm>
            <a:off x="311700" y="1653700"/>
            <a:ext cx="8520600" cy="264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g3f5ef9442a3_0_934"/>
          <p:cNvSpPr txBox="1"/>
          <p:nvPr>
            <p:ph idx="1" type="body"/>
          </p:nvPr>
        </p:nvSpPr>
        <p:spPr>
          <a:xfrm>
            <a:off x="311700" y="44061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49" name="Google Shape;49;g3f5ef9442a3_0_93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5ef9442a3_0_93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each-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f5ef9442a3_0_893"/>
          <p:cNvSpPr txBox="1"/>
          <p:nvPr>
            <p:ph type="title"/>
          </p:nvPr>
        </p:nvSpPr>
        <p:spPr>
          <a:xfrm>
            <a:off x="311700" y="390467"/>
            <a:ext cx="8520600" cy="10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/>
        </p:txBody>
      </p:sp>
      <p:sp>
        <p:nvSpPr>
          <p:cNvPr id="7" name="Google Shape;7;g3f5ef9442a3_0_893"/>
          <p:cNvSpPr txBox="1"/>
          <p:nvPr>
            <p:ph idx="1" type="body"/>
          </p:nvPr>
        </p:nvSpPr>
        <p:spPr>
          <a:xfrm>
            <a:off x="311700" y="1638233"/>
            <a:ext cx="8520600" cy="44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g3f5ef9442a3_0_89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"/>
          <p:cNvSpPr txBox="1"/>
          <p:nvPr>
            <p:ph type="ctrTitle"/>
          </p:nvPr>
        </p:nvSpPr>
        <p:spPr>
          <a:xfrm>
            <a:off x="311700" y="522867"/>
            <a:ext cx="8520600" cy="358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Week 4: Data Visualization &amp; Dashboarding</a:t>
            </a:r>
            <a:endParaRPr/>
          </a:p>
        </p:txBody>
      </p:sp>
      <p:sp>
        <p:nvSpPr>
          <p:cNvPr id="57" name="Google Shape;57;p1"/>
          <p:cNvSpPr txBox="1"/>
          <p:nvPr>
            <p:ph idx="1" type="subTitle"/>
          </p:nvPr>
        </p:nvSpPr>
        <p:spPr>
          <a:xfrm>
            <a:off x="311700" y="5187200"/>
            <a:ext cx="8520600" cy="9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ct val="152381"/>
              <a:buNone/>
            </a:pPr>
            <a:r>
              <a:rPr lang="en-US">
                <a:solidFill>
                  <a:srgbClr val="888888"/>
                </a:solidFill>
              </a:rPr>
              <a:t>Superstore Sales Dashboard</a:t>
            </a:r>
            <a:endParaRPr/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ct val="152381"/>
              <a:buNone/>
            </a:pPr>
            <a:r>
              <a:rPr lang="en-US">
                <a:solidFill>
                  <a:srgbClr val="888888"/>
                </a:solidFill>
              </a:rPr>
              <a:t>Prepared by: Malerato Mofokeng</a:t>
            </a:r>
            <a:endParaRPr/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ct val="152381"/>
              <a:buNone/>
            </a:pPr>
            <a:r>
              <a:rPr lang="en-US">
                <a:solidFill>
                  <a:srgbClr val="888888"/>
                </a:solidFill>
              </a:rPr>
              <a:t>AnalystLab Africa Data Analytics Internship</a:t>
            </a:r>
            <a:endParaRPr/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ct val="152381"/>
              <a:buNone/>
            </a:pPr>
            <a:r>
              <a:rPr lang="en-US">
                <a:solidFill>
                  <a:srgbClr val="888888"/>
                </a:solidFill>
              </a:rPr>
              <a:t>Tools: Tableau Public, Microsoft Excel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/>
          <p:nvPr>
            <p:ph type="title"/>
          </p:nvPr>
        </p:nvSpPr>
        <p:spPr>
          <a:xfrm>
            <a:off x="304800" y="412467"/>
            <a:ext cx="8537700" cy="99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Dataset Overview</a:t>
            </a:r>
            <a:endParaRPr/>
          </a:p>
        </p:txBody>
      </p:sp>
      <p:sp>
        <p:nvSpPr>
          <p:cNvPr id="63" name="Google Shape;63;p2"/>
          <p:cNvSpPr txBox="1"/>
          <p:nvPr/>
        </p:nvSpPr>
        <p:spPr>
          <a:xfrm>
            <a:off x="640080" y="914400"/>
            <a:ext cx="7498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Superstore Sales Dataset (~9,994 records)</a:t>
            </a:r>
            <a:b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Customer, product, sales, profit, quantity, shipping and region data</a:t>
            </a:r>
            <a:b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Objectives:</a:t>
            </a:r>
            <a:b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Analyze sales</a:t>
            </a:r>
            <a:b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Identify profitable regions</a:t>
            </a:r>
            <a:b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Build an interactive dashboard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"/>
          <p:cNvSpPr txBox="1"/>
          <p:nvPr>
            <p:ph type="title"/>
          </p:nvPr>
        </p:nvSpPr>
        <p:spPr>
          <a:xfrm>
            <a:off x="304800" y="412467"/>
            <a:ext cx="8537700" cy="99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Business Problem</a:t>
            </a:r>
            <a:endParaRPr/>
          </a:p>
        </p:txBody>
      </p:sp>
      <p:sp>
        <p:nvSpPr>
          <p:cNvPr id="69" name="Google Shape;69;p3"/>
          <p:cNvSpPr txBox="1"/>
          <p:nvPr/>
        </p:nvSpPr>
        <p:spPr>
          <a:xfrm>
            <a:off x="640080" y="914400"/>
            <a:ext cx="7498079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Which category generates the most sales?</a:t>
            </a:r>
            <a:b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Which region is most profitable?</a:t>
            </a:r>
            <a:b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How have sales changed over time?</a:t>
            </a:r>
            <a:b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Which products perform best?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"/>
          <p:cNvSpPr txBox="1"/>
          <p:nvPr>
            <p:ph type="title"/>
          </p:nvPr>
        </p:nvSpPr>
        <p:spPr>
          <a:xfrm>
            <a:off x="304800" y="412467"/>
            <a:ext cx="8537700" cy="99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Performance Indicators</a:t>
            </a:r>
            <a:endParaRPr/>
          </a:p>
        </p:txBody>
      </p:sp>
      <p:sp>
        <p:nvSpPr>
          <p:cNvPr id="75" name="Google Shape;75;p4"/>
          <p:cNvSpPr txBox="1"/>
          <p:nvPr/>
        </p:nvSpPr>
        <p:spPr>
          <a:xfrm>
            <a:off x="640080" y="914400"/>
            <a:ext cx="7498079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Total Sales</a:t>
            </a:r>
            <a:b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Total Profit</a:t>
            </a:r>
            <a:b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Total Quantity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"/>
          <p:cNvSpPr txBox="1"/>
          <p:nvPr>
            <p:ph type="title"/>
          </p:nvPr>
        </p:nvSpPr>
        <p:spPr>
          <a:xfrm>
            <a:off x="304800" y="412467"/>
            <a:ext cx="8537700" cy="99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Dashboard Visualizations</a:t>
            </a:r>
            <a:endParaRPr/>
          </a:p>
        </p:txBody>
      </p:sp>
      <p:sp>
        <p:nvSpPr>
          <p:cNvPr id="81" name="Google Shape;81;p5"/>
          <p:cNvSpPr txBox="1"/>
          <p:nvPr/>
        </p:nvSpPr>
        <p:spPr>
          <a:xfrm>
            <a:off x="640080" y="914400"/>
            <a:ext cx="7498079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Insert your Tableau dashboard screenshot here.</a:t>
            </a:r>
            <a:b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Charts:</a:t>
            </a:r>
            <a:b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Sales by Category</a:t>
            </a:r>
            <a:b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Profit by Region</a:t>
            </a:r>
            <a:b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Sales Trend</a:t>
            </a:r>
            <a:b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Top Products</a:t>
            </a:r>
            <a:b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Interactive Filters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"/>
          <p:cNvSpPr txBox="1"/>
          <p:nvPr>
            <p:ph type="title"/>
          </p:nvPr>
        </p:nvSpPr>
        <p:spPr>
          <a:xfrm>
            <a:off x="304800" y="412467"/>
            <a:ext cx="8537700" cy="99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Insights</a:t>
            </a:r>
            <a:endParaRPr/>
          </a:p>
        </p:txBody>
      </p:sp>
      <p:sp>
        <p:nvSpPr>
          <p:cNvPr id="87" name="Google Shape;87;p6"/>
          <p:cNvSpPr txBox="1"/>
          <p:nvPr/>
        </p:nvSpPr>
        <p:spPr>
          <a:xfrm>
            <a:off x="640080" y="914400"/>
            <a:ext cx="7498079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Technology generated the highest sales.</a:t>
            </a:r>
            <a:b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West region achieved the highest profit.</a:t>
            </a:r>
            <a:b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Sales increased from 2014–2017.</a:t>
            </a:r>
            <a:b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Adjust these insights if your dashboard differs.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7"/>
          <p:cNvSpPr txBox="1"/>
          <p:nvPr>
            <p:ph type="title"/>
          </p:nvPr>
        </p:nvSpPr>
        <p:spPr>
          <a:xfrm>
            <a:off x="304800" y="412467"/>
            <a:ext cx="8537700" cy="99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Recommendations</a:t>
            </a:r>
            <a:endParaRPr/>
          </a:p>
        </p:txBody>
      </p:sp>
      <p:sp>
        <p:nvSpPr>
          <p:cNvPr id="93" name="Google Shape;93;p7"/>
          <p:cNvSpPr txBox="1"/>
          <p:nvPr/>
        </p:nvSpPr>
        <p:spPr>
          <a:xfrm>
            <a:off x="640080" y="914400"/>
            <a:ext cx="7498079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Invest in top-performing categories.</a:t>
            </a:r>
            <a:b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Focus on profitable regions.</a:t>
            </a:r>
            <a:b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Improve lower-performing categories.</a:t>
            </a:r>
            <a:b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Use dashboard insights for decision-making.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8"/>
          <p:cNvSpPr txBox="1"/>
          <p:nvPr>
            <p:ph type="title"/>
          </p:nvPr>
        </p:nvSpPr>
        <p:spPr>
          <a:xfrm>
            <a:off x="304800" y="412467"/>
            <a:ext cx="8537700" cy="99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Challenges &amp; Learning</a:t>
            </a:r>
            <a:endParaRPr/>
          </a:p>
        </p:txBody>
      </p:sp>
      <p:sp>
        <p:nvSpPr>
          <p:cNvPr id="99" name="Google Shape;99;p8"/>
          <p:cNvSpPr txBox="1"/>
          <p:nvPr/>
        </p:nvSpPr>
        <p:spPr>
          <a:xfrm>
            <a:off x="640080" y="914400"/>
            <a:ext cx="7498079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Challenges:</a:t>
            </a:r>
            <a:b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Learning Tableau</a:t>
            </a:r>
            <a:b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Dashboard design</a:t>
            </a:r>
            <a:b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Skills gained:</a:t>
            </a:r>
            <a:b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Data Visualization</a:t>
            </a:r>
            <a:b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KPI Analysis</a:t>
            </a:r>
            <a:b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Dashboard Design</a:t>
            </a:r>
            <a:b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Data Storytelling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9"/>
          <p:cNvSpPr txBox="1"/>
          <p:nvPr>
            <p:ph type="title"/>
          </p:nvPr>
        </p:nvSpPr>
        <p:spPr>
          <a:xfrm>
            <a:off x="304800" y="412467"/>
            <a:ext cx="8537700" cy="99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/>
          </a:p>
        </p:txBody>
      </p:sp>
      <p:sp>
        <p:nvSpPr>
          <p:cNvPr id="105" name="Google Shape;105;p9"/>
          <p:cNvSpPr txBox="1"/>
          <p:nvPr/>
        </p:nvSpPr>
        <p:spPr>
          <a:xfrm>
            <a:off x="640080" y="914400"/>
            <a:ext cx="7498079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project strengthened my Tableau and business intelligence skills.</a:t>
            </a:r>
            <a:b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Thank you!</a:t>
            </a:r>
            <a:b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Malerato Mofokeng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each Day">
  <a:themeElements>
    <a:clrScheme name="Beach Day">
      <a:dk1>
        <a:srgbClr val="00FDC8"/>
      </a:dk1>
      <a:lt1>
        <a:srgbClr val="FFFFFF"/>
      </a:lt1>
      <a:dk2>
        <a:srgbClr val="666666"/>
      </a:dk2>
      <a:lt2>
        <a:srgbClr val="EEEEEE"/>
      </a:lt2>
      <a:accent1>
        <a:srgbClr val="212121"/>
      </a:accent1>
      <a:accent2>
        <a:srgbClr val="455A64"/>
      </a:accent2>
      <a:accent3>
        <a:srgbClr val="78909C"/>
      </a:accent3>
      <a:accent4>
        <a:srgbClr val="7C7CE0"/>
      </a:accent4>
      <a:accent5>
        <a:srgbClr val="DB4437"/>
      </a:accent5>
      <a:accent6>
        <a:srgbClr val="F6CD4C"/>
      </a:accent6>
      <a:hlink>
        <a:srgbClr val="DB4437"/>
      </a:hlink>
      <a:folHlink>
        <a:srgbClr val="DB44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